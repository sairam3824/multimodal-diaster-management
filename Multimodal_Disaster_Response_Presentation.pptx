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1" d="100"/>
          <a:sy n="171" d="100"/>
        </p:scale>
        <p:origin x="46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84605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 rot="600000">
            <a:off x="5903926" y="-906966"/>
            <a:ext cx="4572000" cy="7315200"/>
          </a:xfrm>
          <a:prstGeom prst="rect">
            <a:avLst/>
          </a:prstGeom>
          <a:solidFill>
            <a:srgbClr val="0F1A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5943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Multimodal Disaster</a:t>
            </a:r>
            <a:endParaRPr lang="en-US" sz="3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Response Analysis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731520" y="3063240"/>
            <a:ext cx="1097280" cy="457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324612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Deep Learning Framework for Real-Time</a:t>
            </a:r>
            <a:endParaRPr lang="en-US" sz="1500" dirty="0"/>
          </a:p>
          <a:p>
            <a:pPr marL="0" indent="0">
              <a:buNone/>
            </a:pPr>
            <a:r>
              <a:rPr lang="en-US" sz="1500" i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Data Integration in Disaster Management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420624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2025–26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201168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Abstract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457200" y="1325880"/>
            <a:ext cx="822960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57200" y="1325880"/>
            <a:ext cx="54864" cy="34747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22960" y="146304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develops a real-time multimodal deep learning system for disaster response that integrates satellite imagery, social media data, and IoT sensor feeds.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2286000"/>
            <a:ext cx="7589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introduces </a:t>
            </a: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fusion</a:t>
            </a: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dynamically weighs modalities based on data quality, a </a:t>
            </a: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streaming pipeline</a:t>
            </a: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real-time situational awareness, and </a:t>
            </a: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modules</a:t>
            </a: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interpretable disaster severity predictions.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adaptation techniques ensure generalization across regions, while multitask learning handles damage estimation and population prediction in a unified framework. Benchmarked on CrisisMMD, MEDIC, and BRIGHT datasets.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201168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Objective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457200" y="132588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57200" y="1325880"/>
            <a:ext cx="3931920" cy="45720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40080" y="135331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85800" y="1920240"/>
            <a:ext cx="3474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disaster response systems: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Process data modalities in isolation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Rely on offline batch processing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Lack interpretability in predictions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Fail to generalize across regions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Ignore noisy/incomplete inputs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754880" y="132588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754880" y="1325880"/>
            <a:ext cx="3931920" cy="4572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937760" y="135331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Objectives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983480" y="1920240"/>
            <a:ext cx="3474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Build adaptive multimodal fusion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Enable real-time streaming analysis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Integrate explainable AI modules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Achieve cross-region generalization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Unify multitask disaster prediction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Benchmark on public datasets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201168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Motivation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457200" y="1325880"/>
            <a:ext cx="26060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57200" y="14173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300+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457200" y="210312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disasters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annually worldwide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37560" y="1325880"/>
            <a:ext cx="26060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337560" y="14173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$200B+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3337560" y="210312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losses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year from disasters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217920" y="1325880"/>
            <a:ext cx="26060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217920" y="14173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90%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6217920" y="210312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disaster data is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 multimodal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3063240"/>
            <a:ext cx="822960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57200" y="3063240"/>
            <a:ext cx="54864" cy="17830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22960" y="3154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Research Matters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22960" y="3566160"/>
            <a:ext cx="7589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Timely and accurate disaster assessment saves lives. Existing AI systems analyze text, images, or sensor data separately—missing critical cross-modal patterns. A unified multimodal system can detect damage faster, estimate needs more accurately, and explain its reasoning to first responders who must make life-or-death decisions under pressure.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371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Existing System — Literature Survey (1/3)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097280" y="53035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Learning &amp; Crisis Informatics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329184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Contribution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Alam et al., 2018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CrisisMMD: Multimodal crisis dataset for Twitter image–text classification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Ofli et al., 2020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MEDIC: A multi-task learning dataset for disaster image classification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Abavisani et al., 2020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Multimodal categorization of crisis events in social media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 et al., 2021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Cross-modal attention for multimodal disaster tweet classification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Madichetty &amp; Sridevi, 2021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Fusion-based deep learning for crisis-related tweet detection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Nalluru et al., 2019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Relevancy classification of multimodal social media during disasters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Weber et al., 2020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Detecting informative tweets during disasters using NLP and vision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371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Existing System — Literature Survey (2/3)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097280" y="53035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Sensing &amp; Multimodal Data Fusion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329184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Contribution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Gupta et al., 2019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xBD: A dataset for assessing building damage from satellite imagery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Adriano et al., 2021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BRIGHT: Building damage assessment using bi-temporal satellite data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Rudner et al., 2019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Multi3Net: Multi-task learning for building damage from multi-source data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Chen et al., 2022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Dual-stream CNNs for change detection in disaster satellite imagery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 et al., 2020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Convolutional neural networks for rapid damage mapping using UAV data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Bai et al., 2020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Pyramid pooling for multi-resolution feature fusion in damage assessment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Sublime &amp; Kalinicheva, 2019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Unsupervised change detection in satellite image time series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371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Existing System — Literature Survey (3/3)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097280" y="53035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Explainability, Domain Adaptation &amp; Real-Time Systems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320040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Contribution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Selvaraju et al., 2017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Grad-CAM: Visual explanations for deep network predictions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Ribeiro et al., 2016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LIME: Explaining predictions of any classifier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Wang et al., 2021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 adaptation for cross-region disaster damage assessment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Ganin et al., 2016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Domain-adversarial training of neural networks for transfer learning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Jiang et al., 2022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multimodal fusion for streaming disaster data analysis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Nguyen et al., 2017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Damage assessment from social media using deep transfer learning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201168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&amp; Gaps Identified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39776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57200" y="1280160"/>
            <a:ext cx="54864" cy="100584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40080" y="135331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Unimodal Processing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169164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systems handle text, images, and sensor data independently, missing cross-modal correlations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09160" y="1280160"/>
            <a:ext cx="39776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709160" y="1280160"/>
            <a:ext cx="54864" cy="100584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892040" y="135331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Offline Batch Processing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892040" y="169164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models are designed for post-event analysis, not real-time streaming scenarios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2468880"/>
            <a:ext cx="39776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57200" y="2468880"/>
            <a:ext cx="54864" cy="100584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40080" y="254203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Black-Box Predictions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40080" y="288036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models lack interpretability, making them unsuitable for high-stakes decision-making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709160" y="2468880"/>
            <a:ext cx="39776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709160" y="2468880"/>
            <a:ext cx="54864" cy="100584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892040" y="254203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Poor Generalization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892040" y="288036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trained on one region or disaster type fail when deployed to new geographies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57200" y="3657600"/>
            <a:ext cx="39776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457200" y="3657600"/>
            <a:ext cx="54864" cy="100584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40080" y="373075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Limited Data Integration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40080" y="406908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systems combine satellite, social media, IoT sensors, and crowdsourced reports together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709160" y="3657600"/>
            <a:ext cx="39776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4709160" y="3657600"/>
            <a:ext cx="54864" cy="100584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4892040" y="373075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Single-Task Frameworks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4892040" y="406908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methods address one task at a time instead of jointly predicting damage, severity, and needs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201168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Proposed System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320040" y="1371600"/>
            <a:ext cx="192024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320040" y="1371600"/>
            <a:ext cx="1920240" cy="41148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320040" y="138988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11480" y="18745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Satellite, Social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Media, IoT Sensors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240280" y="2103120"/>
            <a:ext cx="32004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2423160" y="19202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B82F6"/>
                </a:solidFill>
              </a:rPr>
              <a:t>▶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560320" y="1371600"/>
            <a:ext cx="192024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2560320" y="1371600"/>
            <a:ext cx="1920240" cy="411480"/>
          </a:xfrm>
          <a:prstGeom prst="rect">
            <a:avLst/>
          </a:prstGeom>
          <a:solidFill>
            <a:srgbClr val="2B45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2560320" y="138988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Fusion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2651760" y="18745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modality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weighting &amp; fusion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480560" y="2103120"/>
            <a:ext cx="32004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663440" y="19202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B82F6"/>
                </a:solidFill>
              </a:rPr>
              <a:t>▶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800600" y="1371600"/>
            <a:ext cx="192024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800600" y="1371600"/>
            <a:ext cx="1920240" cy="4114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800600" y="138988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Multitask Model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892040" y="18745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Damage, severity,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prediction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720840" y="2103120"/>
            <a:ext cx="32004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6903720" y="19202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B82F6"/>
                </a:solidFill>
              </a:rPr>
              <a:t>▶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040880" y="1371600"/>
            <a:ext cx="192024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7040880" y="1371600"/>
            <a:ext cx="1920240" cy="4114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7040880" y="138988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Output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7132320" y="18745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results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responders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Innovations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457200" y="3611880"/>
            <a:ext cx="260604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457200" y="3611880"/>
            <a:ext cx="2606040" cy="36576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594360" y="37033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Fusion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594360" y="40233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Confidence-based modality weighting for noisy data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3291840" y="3611880"/>
            <a:ext cx="260604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3291840" y="3611880"/>
            <a:ext cx="2606040" cy="36576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3429000" y="37033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Pipeline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3429000" y="40233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architecture for immediate situational awareness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6126480" y="3611880"/>
            <a:ext cx="260604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6126480" y="3611880"/>
            <a:ext cx="2606040" cy="36576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6263640" y="37033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Adaptation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6263640" y="40233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Cross-region generalization via adversarial training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201168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Proposed Methodology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260604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94360" y="141732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9436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88720" y="144475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94360" y="19659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satellite, social media, IoT, and crowdsourced data into unified pipeline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91840" y="1280160"/>
            <a:ext cx="260604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429000" y="141732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42900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023360" y="144475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429000" y="19659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normalize, and align multimodal inputs with temporal synchronization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126480" y="1280160"/>
            <a:ext cx="260604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6263640" y="141732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26364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858000" y="144475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263640" y="19659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for images, transformers for text, temporal encoders for sensor streams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3108960"/>
            <a:ext cx="260604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594360" y="324612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59436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188720" y="327355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Fusion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594360" y="37947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Confidence-weighted attention mechanism to combine modality features dynamically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3291840" y="3108960"/>
            <a:ext cx="260604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3429000" y="324612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342900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4023360" y="327355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Multitask Prediction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3429000" y="37947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backbone with task-specific heads for damage, severity, and resource needs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126480" y="3108960"/>
            <a:ext cx="260604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6263640" y="324612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626364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6858000" y="327355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Layer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6263640" y="37947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+ LIME integration for human-interpretable prediction explanations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201168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Datasets &amp; Benchmarking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457200" y="123444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57200" y="1234440"/>
            <a:ext cx="54864" cy="82296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731520" y="1325880"/>
            <a:ext cx="1645920" cy="292608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31520" y="13258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CrisisMMD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560320" y="1344168"/>
            <a:ext cx="1097280" cy="256032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2560320" y="13441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+ Images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31520" y="16916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16K+ annotated Twitter posts with images from natural disasters for multimodal classification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219456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57200" y="2194560"/>
            <a:ext cx="54864" cy="8229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731520" y="2286000"/>
            <a:ext cx="1645920" cy="29260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31520" y="22860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2560320" y="2304288"/>
            <a:ext cx="1097280" cy="256032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2560320" y="230428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31520" y="26517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Multi-task disaster image dataset with labels for informativeness, damage, and humanitarian needs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315468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457200" y="315468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731520" y="3246120"/>
            <a:ext cx="1645920" cy="29260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731520" y="324612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2560320" y="3264408"/>
            <a:ext cx="1097280" cy="256032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2560320" y="32644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731520" y="36118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Bi-temporal high-resolution satellite imagery for building damage assessment across multiple events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 Metrics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Accuracy     •  F1-Score     •  AUC-ROC     •  BLEU (for XAI)     •  Inference Latency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201168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Timeline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2377440"/>
            <a:ext cx="8046720" cy="0"/>
          </a:xfrm>
          <a:prstGeom prst="line">
            <a:avLst/>
          </a:prstGeom>
          <a:noFill/>
          <a:ln w="381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914400" y="2194560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365760" y="1188720"/>
            <a:ext cx="14630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365760" y="2157984"/>
            <a:ext cx="146304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65760" y="12618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25 – Feb 8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11480" y="153619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Data Collection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651760" y="2194560"/>
            <a:ext cx="365760" cy="365760"/>
          </a:xfrm>
          <a:prstGeom prst="ellipse">
            <a:avLst/>
          </a:prstGeom>
          <a:solidFill>
            <a:srgbClr val="2B45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2103120" y="2926080"/>
            <a:ext cx="14630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2103120" y="2926080"/>
            <a:ext cx="1463040" cy="36576"/>
          </a:xfrm>
          <a:prstGeom prst="rect">
            <a:avLst/>
          </a:prstGeom>
          <a:solidFill>
            <a:srgbClr val="2B45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2103120" y="30358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B4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9 – Feb 22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2148840" y="331012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&amp;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389120" y="2194560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3840480" y="1188720"/>
            <a:ext cx="14630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3840480" y="2157984"/>
            <a:ext cx="1463040" cy="36576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3840480" y="12618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23 – Mar 15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3886200" y="153619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Development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Training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126480" y="2194560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5577840" y="2926080"/>
            <a:ext cx="14630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5577840" y="2926080"/>
            <a:ext cx="146304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5577840" y="30358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16 – Mar 29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623560" y="331012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7863840" y="2194560"/>
            <a:ext cx="365760" cy="36576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7315200" y="1188720"/>
            <a:ext cx="14630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7315200" y="2157984"/>
            <a:ext cx="1463040" cy="36576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7315200" y="12618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30 – Apr 15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7360920" y="153619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Testing, Writing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Deployment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457200" y="4160520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457200" y="4160520"/>
            <a:ext cx="54864" cy="7315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822960" y="420624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Jan 25, 2026  |  Mid-review: Mar 1  |  Final submission: Apr 15, 2026  |  Continuous benchmarking against baselines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201168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822960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57200" y="1280160"/>
            <a:ext cx="54864" cy="13716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22960" y="135331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1737360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research proposes a practical, scalable, and interpretable multimodal AI system that addresses critical gaps in current disaster response technology—moving from isolated, offline, and opaque models to an integrated, real-time, and explainable framework.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Expected Contributions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40080" y="3337560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960120" y="329184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adaptive fusion mechanism for heterogeneous disaster data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40080" y="3749040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960120" y="370332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real-time streaming pipeline for situational awareness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40080" y="4160520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960120" y="411480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integration for transparent, trustworthy predictions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40080" y="4572000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960120" y="452628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Cross-region domain adaptation for broader deployment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128016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You!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3840480" y="2468880"/>
            <a:ext cx="1463040" cy="457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2697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35661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1105</Words>
  <Application>Microsoft Macintosh PowerPoint</Application>
  <PresentationFormat>On-screen Show (16:9)</PresentationFormat>
  <Paragraphs>221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Multimodal Disaster Response Analysis</dc:title>
  <dc:subject>PptxGenJS Presentation</dc:subject>
  <dc:creator>Sairam Maruri</dc:creator>
  <cp:lastModifiedBy>SAI RAMA LINGA REDDY MARURI</cp:lastModifiedBy>
  <cp:revision>2</cp:revision>
  <dcterms:created xsi:type="dcterms:W3CDTF">2026-02-06T12:19:43Z</dcterms:created>
  <dcterms:modified xsi:type="dcterms:W3CDTF">2026-02-06T12:32:50Z</dcterms:modified>
</cp:coreProperties>
</file>